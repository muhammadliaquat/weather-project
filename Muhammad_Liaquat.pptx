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4"/>
  </p:sldMasterIdLst>
  <p:notesMasterIdLst>
    <p:notesMasterId r:id="rId18"/>
  </p:notesMasterIdLst>
  <p:sldIdLst>
    <p:sldId id="1864" r:id="rId5"/>
    <p:sldId id="1846" r:id="rId6"/>
    <p:sldId id="1848" r:id="rId7"/>
    <p:sldId id="1849" r:id="rId8"/>
    <p:sldId id="1868" r:id="rId9"/>
    <p:sldId id="1869" r:id="rId10"/>
    <p:sldId id="1870" r:id="rId11"/>
    <p:sldId id="1871" r:id="rId12"/>
    <p:sldId id="1872" r:id="rId13"/>
    <p:sldId id="1873" r:id="rId14"/>
    <p:sldId id="1874" r:id="rId15"/>
    <p:sldId id="1858" r:id="rId16"/>
    <p:sldId id="1859" r:id="rId1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80" userDrawn="1">
          <p15:clr>
            <a:srgbClr val="A4A3A4"/>
          </p15:clr>
        </p15:guide>
        <p15:guide id="3" pos="7200" userDrawn="1">
          <p15:clr>
            <a:srgbClr val="A4A3A4"/>
          </p15:clr>
        </p15:guide>
        <p15:guide id="4" pos="436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hammad Liaquat" initials="ML" lastIdx="1" clrIdx="0">
    <p:extLst>
      <p:ext uri="{19B8F6BF-5375-455C-9EA6-DF929625EA0E}">
        <p15:presenceInfo xmlns:p15="http://schemas.microsoft.com/office/powerpoint/2012/main" userId="2937933eb67885e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4387"/>
    <a:srgbClr val="FF2625"/>
    <a:srgbClr val="007788"/>
    <a:srgbClr val="297C2A"/>
    <a:srgbClr val="F69000"/>
    <a:srgbClr val="01C2D1"/>
    <a:srgbClr val="D6D734"/>
    <a:srgbClr val="005C68"/>
    <a:srgbClr val="3B2E58"/>
    <a:srgbClr val="6B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24" autoAdjust="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>
        <p:guide orient="horz" pos="2160"/>
        <p:guide pos="480"/>
        <p:guide pos="7200"/>
        <p:guide pos="436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4" d="100"/>
        <a:sy n="94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D9F622F8-1824-4338-8C3C-5529D3BDEF4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618DDD53-BB38-4118-BC75-9CE27D49C55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6C03B6F7-B1AE-4118-ABA2-FFEC9B8F0E9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646F5356-BDE8-43C1-9587-85323D02B19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89912C35-11A9-4DA7-8476-F1823F658CA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27" name="Rectangle 7">
            <a:extLst>
              <a:ext uri="{FF2B5EF4-FFF2-40B4-BE49-F238E27FC236}">
                <a16:creationId xmlns:a16="http://schemas.microsoft.com/office/drawing/2014/main" id="{7180ED79-CEC3-4FB9-B511-8597B20A0C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DEB7EE2-04A2-4FB2-9625-C9C73AC4D32F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FA4671F7-4D2C-4B1E-AED7-24676BE8B4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47842D7-C728-4EBD-982B-B8BE79E4DBBE}" type="slidenum">
              <a:rPr lang="en-US" altLang="en-US"/>
              <a:pPr eaLnBrk="1" hangingPunct="1"/>
              <a:t>1</a:t>
            </a:fld>
            <a:endParaRPr lang="en-US" altLang="en-US" dirty="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D8E83BD0-7AE4-4323-9047-FC368929C5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FDECF5EC-C5EC-4723-8F4F-A75A20018F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814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83417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13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95288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DB60B1-BEF5-4848-BB02-98EBFE355C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1"/>
            <a:ext cx="12191998" cy="685799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E7964CB-E75A-4A03-88D3-6A48EF650A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42012" y="2766219"/>
            <a:ext cx="6220101" cy="1325563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1440679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Patter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87E8F-5716-4A71-B64F-EC5A742B45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1"/>
            <a:ext cx="6477000" cy="1189038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905000"/>
            <a:ext cx="6340929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6" name="Picture Placeholder 5" descr="Red, blue grey white pattern background">
            <a:extLst>
              <a:ext uri="{FF2B5EF4-FFF2-40B4-BE49-F238E27FC236}">
                <a16:creationId xmlns:a16="http://schemas.microsoft.com/office/drawing/2014/main" id="{8FD53BA4-73D2-4CCA-8580-11F4221524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27166" y="0"/>
            <a:ext cx="47648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2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6" descr="White Striped background">
            <a:extLst>
              <a:ext uri="{FF2B5EF4-FFF2-40B4-BE49-F238E27FC236}">
                <a16:creationId xmlns:a16="http://schemas.microsoft.com/office/drawing/2014/main" id="{3917D528-010E-4303-97BF-F7F67BC661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D9303A2-B30A-054C-B809-053B909E12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1995467"/>
            <a:ext cx="9141397" cy="615553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0F58DD1-3970-D84D-8040-EF33B0971D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</p:spTree>
    <p:extLst>
      <p:ext uri="{BB962C8B-B14F-4D97-AF65-F5344CB8AC3E}">
        <p14:creationId xmlns:p14="http://schemas.microsoft.com/office/powerpoint/2010/main" val="3240882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3" userDrawn="1">
          <p15:clr>
            <a:srgbClr val="5ACBF0"/>
          </p15:clr>
        </p15:guide>
        <p15:guide id="4" orient="horz" pos="2488" userDrawn="1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13624-9AD4-4B61-B3D1-7B21213507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4"/>
            <a:ext cx="10591800" cy="646332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780F473D-F2DF-4163-AB6E-F7327F60EC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432562"/>
            <a:ext cx="10667999" cy="115823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defRPr sz="18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7DC18506-6205-438F-AA5C-D337F9975FC3}"/>
              </a:ext>
            </a:extLst>
          </p:cNvPr>
          <p:cNvSpPr>
            <a:spLocks noGrp="1"/>
          </p:cNvSpPr>
          <p:nvPr>
            <p:ph type="tbl" sz="quarter" idx="12" hasCustomPrompt="1"/>
          </p:nvPr>
        </p:nvSpPr>
        <p:spPr>
          <a:xfrm>
            <a:off x="757381" y="2591662"/>
            <a:ext cx="10667999" cy="2833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/>
            </a:lvl1pPr>
          </a:lstStyle>
          <a:p>
            <a:r>
              <a:rPr lang="en-US" dirty="0"/>
              <a:t>Insert content here</a:t>
            </a:r>
          </a:p>
        </p:txBody>
      </p:sp>
      <p:pic>
        <p:nvPicPr>
          <p:cNvPr id="7" name="Picture Placeholder 5" descr="Red, blue grey white pattern background">
            <a:extLst>
              <a:ext uri="{FF2B5EF4-FFF2-40B4-BE49-F238E27FC236}">
                <a16:creationId xmlns:a16="http://schemas.microsoft.com/office/drawing/2014/main" id="{CD2D4C14-919B-45F8-8FB9-55AAC8A8FC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90252"/>
            <a:ext cx="12192000" cy="86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917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Patter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668F4E-0433-49FD-9D92-3B60E9B0AE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9742" y="715961"/>
            <a:ext cx="6477000" cy="118903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Bef>
                <a:spcPts val="1000"/>
              </a:spcBef>
              <a:defRPr sz="4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9743" y="1905000"/>
            <a:ext cx="6477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228600" indent="-228600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6" name="Picture Placeholder 6" descr="Red, blue grey white pattern background">
            <a:extLst>
              <a:ext uri="{FF2B5EF4-FFF2-40B4-BE49-F238E27FC236}">
                <a16:creationId xmlns:a16="http://schemas.microsoft.com/office/drawing/2014/main" id="{3A82D859-AED3-485F-A04E-40320B1043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7679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87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08" userDrawn="1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13624-9AD4-4B61-B3D1-7B21213507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4"/>
            <a:ext cx="10591800" cy="646332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DF03C311-DDF4-44A3-9D51-D5FDC4A8E7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432562"/>
            <a:ext cx="10667999" cy="9274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defRPr sz="18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sp>
        <p:nvSpPr>
          <p:cNvPr id="8" name="SmartArt Placeholder 7">
            <a:extLst>
              <a:ext uri="{FF2B5EF4-FFF2-40B4-BE49-F238E27FC236}">
                <a16:creationId xmlns:a16="http://schemas.microsoft.com/office/drawing/2014/main" id="{9FD563C5-3DFB-47DD-8A9E-30D8084590F6}"/>
              </a:ext>
            </a:extLst>
          </p:cNvPr>
          <p:cNvSpPr>
            <a:spLocks noGrp="1"/>
          </p:cNvSpPr>
          <p:nvPr>
            <p:ph type="dgm" sz="quarter" idx="14" hasCustomPrompt="1"/>
          </p:nvPr>
        </p:nvSpPr>
        <p:spPr>
          <a:xfrm>
            <a:off x="762001" y="2369129"/>
            <a:ext cx="10667998" cy="33436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/>
            </a:lvl1pPr>
          </a:lstStyle>
          <a:p>
            <a:r>
              <a:rPr lang="en-US" dirty="0"/>
              <a:t>Insert Content here</a:t>
            </a:r>
          </a:p>
        </p:txBody>
      </p:sp>
      <p:pic>
        <p:nvPicPr>
          <p:cNvPr id="9" name="Picture Placeholder 8" descr="Red, blue grey white pattern background">
            <a:extLst>
              <a:ext uri="{FF2B5EF4-FFF2-40B4-BE49-F238E27FC236}">
                <a16:creationId xmlns:a16="http://schemas.microsoft.com/office/drawing/2014/main" id="{EFDBB6A3-9760-4B41-9E31-6D5DD396E1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99582"/>
            <a:ext cx="12192000" cy="85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626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3F45076F-4240-4B40-8CE4-637DD751A6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3"/>
            <a:ext cx="5334000" cy="118903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498B63D-F60C-4A9D-8D3E-0C7CD748FE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905000"/>
            <a:ext cx="5334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228600">
              <a:lnSpc>
                <a:spcPct val="100000"/>
              </a:lnSpc>
              <a:spcBef>
                <a:spcPts val="1000"/>
              </a:spcBef>
              <a:defRPr sz="1800"/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827A95C0-AE8D-46E1-9EF9-64504CBEF9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58000" y="715963"/>
            <a:ext cx="4572000" cy="2362200"/>
          </a:xfrm>
          <a:prstGeom prst="rect">
            <a:avLst/>
          </a:prstGeom>
          <a:solidFill>
            <a:schemeClr val="tx2"/>
          </a:solidFill>
        </p:spPr>
        <p:txBody>
          <a:bodyPr>
            <a:normAutofit/>
          </a:bodyPr>
          <a:lstStyle>
            <a:lvl1pPr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89E410BA-B0FE-4F0E-8BE5-D33CC01663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58000" y="3305541"/>
            <a:ext cx="4572000" cy="2362200"/>
          </a:xfrm>
          <a:prstGeom prst="rect">
            <a:avLst/>
          </a:prstGeom>
          <a:solidFill>
            <a:schemeClr val="tx2"/>
          </a:solidFill>
        </p:spPr>
        <p:txBody>
          <a:bodyPr>
            <a:normAutofit/>
          </a:bodyPr>
          <a:lstStyle>
            <a:lvl1pPr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1" name="Picture Placeholder 5" descr="Red, blue grey white pattern background">
            <a:extLst>
              <a:ext uri="{FF2B5EF4-FFF2-40B4-BE49-F238E27FC236}">
                <a16:creationId xmlns:a16="http://schemas.microsoft.com/office/drawing/2014/main" id="{1014381E-E235-4624-9267-69EEEE9826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80922"/>
            <a:ext cx="12192000" cy="87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80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Pattern Content Gra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87E8F-5716-4A71-B64F-EC5A742B45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1"/>
            <a:ext cx="6477000" cy="1189038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905000"/>
            <a:ext cx="6477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5" name="Picture Placeholder 6" descr="Red, blue grey white pattern background">
            <a:extLst>
              <a:ext uri="{FF2B5EF4-FFF2-40B4-BE49-F238E27FC236}">
                <a16:creationId xmlns:a16="http://schemas.microsoft.com/office/drawing/2014/main" id="{6696C96D-182E-490E-A117-B60FF18536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27166" y="0"/>
            <a:ext cx="47648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428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6" descr="Picture placeholder ">
            <a:extLst>
              <a:ext uri="{FF2B5EF4-FFF2-40B4-BE49-F238E27FC236}">
                <a16:creationId xmlns:a16="http://schemas.microsoft.com/office/drawing/2014/main" id="{21F9B252-B7D4-4DA8-92E8-8A98BFEF41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D9303A2-B30A-054C-B809-053B909E12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1995467"/>
            <a:ext cx="9141397" cy="615553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0F58DD1-3970-D84D-8040-EF33B0971D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</p:spTree>
    <p:extLst>
      <p:ext uri="{BB962C8B-B14F-4D97-AF65-F5344CB8AC3E}">
        <p14:creationId xmlns:p14="http://schemas.microsoft.com/office/powerpoint/2010/main" val="4100711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3" userDrawn="1">
          <p15:clr>
            <a:srgbClr val="5ACBF0"/>
          </p15:clr>
        </p15:guide>
        <p15:guide id="4" orient="horz" pos="2488" userDrawn="1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7724906-4405-47F4-B533-7291B003B0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1995467"/>
            <a:ext cx="9141397" cy="615553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1EEF53A4-35A6-4E43-B220-67DA381C59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  <p:pic>
        <p:nvPicPr>
          <p:cNvPr id="6" name="Picture Placeholder 5" descr="Red, blue grey white pattern background">
            <a:extLst>
              <a:ext uri="{FF2B5EF4-FFF2-40B4-BE49-F238E27FC236}">
                <a16:creationId xmlns:a16="http://schemas.microsoft.com/office/drawing/2014/main" id="{906BF34F-6945-4E11-BAEC-F66F7254C4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99582"/>
            <a:ext cx="12192000" cy="85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523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Pattern Content Blu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668F4E-0433-49FD-9D92-3B60E9B0AE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9742" y="715961"/>
            <a:ext cx="6477000" cy="118903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Bef>
                <a:spcPts val="1000"/>
              </a:spcBef>
              <a:defRPr sz="4000" b="1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9743" y="1905000"/>
            <a:ext cx="6477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228600" indent="-228600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5" name="Picture Placeholder 6" descr="Red, blue grey white pattern background">
            <a:extLst>
              <a:ext uri="{FF2B5EF4-FFF2-40B4-BE49-F238E27FC236}">
                <a16:creationId xmlns:a16="http://schemas.microsoft.com/office/drawing/2014/main" id="{BC85C715-EF0D-4E33-AC89-C35DD2596E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7679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375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08" userDrawn="1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96904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9" r:id="rId2"/>
    <p:sldLayoutId id="2147483700" r:id="rId3"/>
    <p:sldLayoutId id="2147483691" r:id="rId4"/>
    <p:sldLayoutId id="2147483701" r:id="rId5"/>
    <p:sldLayoutId id="2147483706" r:id="rId6"/>
    <p:sldLayoutId id="2147483702" r:id="rId7"/>
    <p:sldLayoutId id="2147483704" r:id="rId8"/>
    <p:sldLayoutId id="2147483703" r:id="rId9"/>
    <p:sldLayoutId id="2147483690" r:id="rId10"/>
    <p:sldLayoutId id="214748370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pixabay.com/en/question-question-mark-response-1015308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D2DB031-9003-4F74-A88F-FE2A2ABABC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1452" y="2766219"/>
            <a:ext cx="7110661" cy="1325563"/>
          </a:xfrm>
        </p:spPr>
        <p:txBody>
          <a:bodyPr anchor="ctr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Data Analytics &amp; Search Platform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A3A4F0-F794-A4AB-4361-74E0F85364E5}"/>
              </a:ext>
            </a:extLst>
          </p:cNvPr>
          <p:cNvSpPr txBox="1"/>
          <p:nvPr/>
        </p:nvSpPr>
        <p:spPr>
          <a:xfrm>
            <a:off x="5517222" y="5512085"/>
            <a:ext cx="5424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MUHAMMAD LAIQUAT</a:t>
            </a:r>
          </a:p>
        </p:txBody>
      </p:sp>
    </p:spTree>
    <p:extLst>
      <p:ext uri="{BB962C8B-B14F-4D97-AF65-F5344CB8AC3E}">
        <p14:creationId xmlns:p14="http://schemas.microsoft.com/office/powerpoint/2010/main" val="1543265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7BA0B6F-5258-479C-87B7-C806E6757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1"/>
            <a:ext cx="6477000" cy="11890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36812B-2065-4A2B-B59B-8957022687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905000"/>
            <a:ext cx="6340929" cy="3276600"/>
          </a:xfrm>
        </p:spPr>
        <p:txBody>
          <a:bodyPr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REST-based web application for historical weather data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Stores, indexes, searches, and analyzes weather information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Elasticsearch for fast search and analytics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insights such as hottest cities and rainfall trends</a:t>
            </a:r>
          </a:p>
        </p:txBody>
      </p:sp>
    </p:spTree>
    <p:extLst>
      <p:ext uri="{BB962C8B-B14F-4D97-AF65-F5344CB8AC3E}">
        <p14:creationId xmlns:p14="http://schemas.microsoft.com/office/powerpoint/2010/main" val="461669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8FBE6B-DC67-4E64-80F4-CADE978D2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4"/>
            <a:ext cx="10591800" cy="64633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C6A9FD9-630E-44B9-BED8-AFEA6C84A8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432562"/>
            <a:ext cx="10667999" cy="333464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PHP (XAMPP)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/ Search Engine: Elasticsearch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Documentation: Swagger (Open API)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Testing: Postman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HTML, CSS, JavaScript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 Chart.js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/>
          </a:p>
        </p:txBody>
      </p:sp>
      <p:graphicFrame>
        <p:nvGraphicFramePr>
          <p:cNvPr id="18" name="Group 85">
            <a:extLst>
              <a:ext uri="{FF2B5EF4-FFF2-40B4-BE49-F238E27FC236}">
                <a16:creationId xmlns:a16="http://schemas.microsoft.com/office/drawing/2014/main" id="{14BC0987-DF66-4F47-953D-7A5171CA5B01}"/>
              </a:ext>
            </a:extLst>
          </p:cNvPr>
          <p:cNvGraphicFramePr>
            <a:graphicFrameLocks noGrp="1"/>
          </p:cNvGraphicFramePr>
          <p:nvPr>
            <p:ph type="tbl" sz="quarter" idx="12"/>
            <p:extLst>
              <p:ext uri="{D42A27DB-BD31-4B8C-83A1-F6EECF244321}">
                <p14:modId xmlns:p14="http://schemas.microsoft.com/office/powerpoint/2010/main" val="2016954122"/>
              </p:ext>
            </p:extLst>
          </p:nvPr>
        </p:nvGraphicFramePr>
        <p:xfrm>
          <a:off x="757239" y="4897176"/>
          <a:ext cx="1249680" cy="1051560"/>
        </p:xfrm>
        <a:graphic>
          <a:graphicData uri="http://schemas.openxmlformats.org/drawingml/2006/table">
            <a:tbl>
              <a:tblPr firstRow="1"/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18288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182880" horzOverflow="overflow">
                    <a:lnL w="635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182880" horzOverflow="overflow">
                    <a:lnL w="635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182880" horzOverflow="overflow">
                    <a:lnL w="635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182880" horzOverflow="overflow">
                    <a:lnL w="635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182880" horzOverflow="overflow">
                    <a:lnL w="635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57FA3B08-414A-739E-827A-4FC1267D4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PHP (XAMPP) - Handles business logic and API routing.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Engine: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Elasticsearch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A distributed, NoSQL search and analytics engine.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HTML5, CSS3, JavaScript - Responsive user interface.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Chart.js - Renders dynamic graphs for data storytelling.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Toolkit: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Swagger (Documentation) &amp; Postman (Testing).</a:t>
            </a:r>
          </a:p>
        </p:txBody>
      </p:sp>
    </p:spTree>
    <p:extLst>
      <p:ext uri="{BB962C8B-B14F-4D97-AF65-F5344CB8AC3E}">
        <p14:creationId xmlns:p14="http://schemas.microsoft.com/office/powerpoint/2010/main" val="2957678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1262CD5-AD01-42E3-9173-97C12BB0D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742" y="715961"/>
            <a:ext cx="6477000" cy="118903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Actors &amp; Use Cases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9585A-5E1F-40FA-8E64-BB4F046116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99743" y="1905000"/>
            <a:ext cx="6477000" cy="43416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Actors: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User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Developer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Elasticsearch System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weather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by 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Update records</a:t>
            </a:r>
          </a:p>
          <a:p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783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058177-B463-0FD0-3D49-B9BCE25CB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A75FB6E-C409-C202-43EC-7A3487AE4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742" y="715961"/>
            <a:ext cx="6477000" cy="118903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 &amp; Swagger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8F023F-BE2C-ECB8-3B48-5F425726DA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99743" y="1905000"/>
            <a:ext cx="6477000" cy="327660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REST Endpoints: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/weather – Insert data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/weather/search – Search by city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PUT /weather/{id} – Update data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/weather/{id} – Delete data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/analytics/hottest – Analytics</a:t>
            </a:r>
          </a:p>
          <a:p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Swagger provides: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API schemas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2683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223F2C-4151-F777-88BC-4D4BF38F9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9EB3864-A605-4AF5-6F18-73B195D85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742" y="715961"/>
            <a:ext cx="6477000" cy="118903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Elasticsearch Mapping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F2D3D-B6DF-6A19-5C2F-47735736F4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99743" y="1905000"/>
            <a:ext cx="6477000" cy="413620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Name: weather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Fields: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city (text + keyword)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country (keyword)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date (date)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temperature (float)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rainfall (float)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season (keyword)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858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FA39F4-FF3C-D742-EDFA-AB5CE191B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30C14A5-A2D5-ACEA-B675-7F7837F2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742" y="715961"/>
            <a:ext cx="6477000" cy="118903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C7E69B-7E06-7CD9-4C04-DAD0B92215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99743" y="1905000"/>
            <a:ext cx="6477000" cy="413620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(HTML, CSS, JS)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 Calls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 Backend (cURL)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Communication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Elasticsearch Cluster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0554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51EB72-5FAC-0B7D-95BF-BB31AD3E8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45BF030-EF75-1E38-77AA-66AF3FFA6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742" y="715961"/>
            <a:ext cx="6477000" cy="118903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Highlights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C85945-5140-F276-C5B4-E3DA2613AC0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99743" y="1905000"/>
            <a:ext cx="6477000" cy="413620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PHP REST API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Secure Elasticsearch communication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CRUD + analytics queries</a:t>
            </a:r>
          </a:p>
          <a:p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Clean UI modules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395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949E9-A69D-7862-AB77-B47FB91B9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9951" y="715961"/>
            <a:ext cx="6806791" cy="118903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Postman Testing &amp; Validation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1C474F-1271-6194-4C40-D7DB540C22A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endpoints tested using Postman: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Insert data (POST)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Search data (GET)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Update records (PUT)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Delete records (DELETE)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Analytics queries</a:t>
            </a:r>
          </a:p>
          <a:p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status codes and JSON responses</a:t>
            </a:r>
          </a:p>
        </p:txBody>
      </p:sp>
    </p:spTree>
    <p:extLst>
      <p:ext uri="{BB962C8B-B14F-4D97-AF65-F5344CB8AC3E}">
        <p14:creationId xmlns:p14="http://schemas.microsoft.com/office/powerpoint/2010/main" val="3787358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4CD9B-75B1-C4A6-184F-5F98EBCED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81330-6B48-AD0F-7EBB-05D0CE394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9951" y="715961"/>
            <a:ext cx="6806791" cy="118903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Elasticsearch vs Traditional Databases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9EE600-24FA-7E87-48F5-2816724DE8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Databases: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Optimized for transactions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Limited full-text search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Complex analytics queries</a:t>
            </a:r>
          </a:p>
          <a:p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Elasticsearch: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Near real-time search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Built-in aggregations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Scales horizontally</a:t>
            </a:r>
          </a:p>
        </p:txBody>
      </p:sp>
    </p:spTree>
    <p:extLst>
      <p:ext uri="{BB962C8B-B14F-4D97-AF65-F5344CB8AC3E}">
        <p14:creationId xmlns:p14="http://schemas.microsoft.com/office/powerpoint/2010/main" val="1260315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02262-6DD0-48A0-C11F-9F77325A6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47387-D433-7AB4-E788-A5C18BBFB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4847" y="487363"/>
            <a:ext cx="6806791" cy="118903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6507A-C2DF-2730-8842-5C2D468199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99743" y="1904999"/>
            <a:ext cx="6477000" cy="3797157"/>
          </a:xfrm>
        </p:spPr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weather-project/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api/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 └── index.php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frontend/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 ├── index.php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 ├── style.css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 └── app.js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data/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swagger/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README.md</a:t>
            </a:r>
          </a:p>
        </p:txBody>
      </p:sp>
    </p:spTree>
    <p:extLst>
      <p:ext uri="{BB962C8B-B14F-4D97-AF65-F5344CB8AC3E}">
        <p14:creationId xmlns:p14="http://schemas.microsoft.com/office/powerpoint/2010/main" val="2227332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9E38B3-4686-8247-9625-49018D29F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5301" y="1995467"/>
            <a:ext cx="9141397" cy="61555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Learning Outcomes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155E1D-F4AD-41A7-B948-E2D246CCFE8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96307" y="3260705"/>
            <a:ext cx="7799387" cy="1534757"/>
          </a:xfrm>
        </p:spPr>
        <p:txBody>
          <a:bodyPr vert="horz" wrap="square" lIns="0" tIns="0" rIns="0" bIns="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technical justification for Elasticsearch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Search-driven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analytics implementation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4761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68DF32A-D165-40DA-AAE8-A6E9579E2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5301" y="1995467"/>
            <a:ext cx="9141397" cy="61555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3BC92DE-1779-4A44-AED9-0261C2497D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96305" y="3260705"/>
            <a:ext cx="7799387" cy="1534757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E0701D-1D5F-B8B8-4B7A-3906B4E8D6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232899" y="784632"/>
            <a:ext cx="9760449" cy="522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716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1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23042"/>
      </a:accent1>
      <a:accent2>
        <a:srgbClr val="3578AF"/>
      </a:accent2>
      <a:accent3>
        <a:srgbClr val="C4C4C4"/>
      </a:accent3>
      <a:accent4>
        <a:srgbClr val="A80B22"/>
      </a:accent4>
      <a:accent5>
        <a:srgbClr val="E2E2E2"/>
      </a:accent5>
      <a:accent6>
        <a:srgbClr val="2A6187"/>
      </a:accent6>
      <a:hlink>
        <a:srgbClr val="0563C1"/>
      </a:hlink>
      <a:folHlink>
        <a:srgbClr val="954F72"/>
      </a:folHlink>
    </a:clrScheme>
    <a:fontScheme name="Custom 8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ewish American Heritage Month_Win32_JC_SL_v3" id="{5A91364D-DD38-4994-BB9C-41D074FD197A}" vid="{8577DF34-D72C-48EB-902A-0A54C766E053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DF283A3-AA81-4663-8764-64F64C723FD1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D4EE2DFF-920A-42C9-AEE0-3A0BF6AF46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15C1F8C-D27A-4CE7-9DF4-4AFDB2880FA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2f988bf-86f1-41af-91ab-2d7cd011db47}" enabled="0" method="" siteId="{72f988bf-86f1-41af-91ab-2d7cd011db4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Jewish American Heritage Month presentation</Template>
  <TotalTime>112</TotalTime>
  <Words>449</Words>
  <Application>Microsoft Office PowerPoint</Application>
  <PresentationFormat>Widescreen</PresentationFormat>
  <Paragraphs>103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Times New Roman</vt:lpstr>
      <vt:lpstr>Wingdings</vt:lpstr>
      <vt:lpstr>Office Theme</vt:lpstr>
      <vt:lpstr>Weather Data Analytics &amp; Search Platform</vt:lpstr>
      <vt:lpstr>Description</vt:lpstr>
      <vt:lpstr>Technologies Used</vt:lpstr>
      <vt:lpstr>Actors &amp; Use Cases </vt:lpstr>
      <vt:lpstr>REST API &amp; Swagger </vt:lpstr>
      <vt:lpstr>Elasticsearch Mapping  </vt:lpstr>
      <vt:lpstr>System Architecture  </vt:lpstr>
      <vt:lpstr>Implementation Highlights  </vt:lpstr>
      <vt:lpstr>Postman Testing &amp; Validation</vt:lpstr>
      <vt:lpstr>Elasticsearch vs Traditional Databases</vt:lpstr>
      <vt:lpstr>Project Structure</vt:lpstr>
      <vt:lpstr>Conclusion &amp; Learning Outcomes</vt:lpstr>
      <vt:lpstr>PowerPoint Presentation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Muhammad Liaquat</dc:creator>
  <cp:keywords/>
  <dc:description/>
  <cp:lastModifiedBy>Muhammad Liaquat</cp:lastModifiedBy>
  <cp:revision>28</cp:revision>
  <dcterms:created xsi:type="dcterms:W3CDTF">2025-12-17T11:04:48Z</dcterms:created>
  <dcterms:modified xsi:type="dcterms:W3CDTF">2025-12-17T12:58:23Z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